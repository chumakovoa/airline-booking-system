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723" r:id="rId1"/>
  </p:sldMasterIdLst>
  <p:notesMasterIdLst>
    <p:notesMasterId r:id="rId13"/>
  </p:notesMasterIdLst>
  <p:sldIdLst>
    <p:sldId id="256" r:id="rId2"/>
    <p:sldId id="259" r:id="rId3"/>
    <p:sldId id="327" r:id="rId4"/>
    <p:sldId id="318" r:id="rId5"/>
    <p:sldId id="328" r:id="rId6"/>
    <p:sldId id="322" r:id="rId7"/>
    <p:sldId id="324" r:id="rId8"/>
    <p:sldId id="266" r:id="rId9"/>
    <p:sldId id="325" r:id="rId10"/>
    <p:sldId id="329" r:id="rId11"/>
    <p:sldId id="314" r:id="rId12"/>
  </p:sldIdLst>
  <p:sldSz cx="12192000" cy="6858000"/>
  <p:notesSz cx="6858000" cy="9144000"/>
  <p:embeddedFontLst>
    <p:embeddedFont>
      <p:font typeface="Bahnschrift SemiBold" panose="020B0502040204020203" pitchFamily="34" charset="0"/>
      <p:bold r:id="rId14"/>
    </p:embeddedFont>
    <p:embeddedFont>
      <p:font typeface="Microsoft JhengHei UI" panose="020B0604030504040204" pitchFamily="34" charset="-120"/>
      <p:regular r:id="rId15"/>
      <p:bold r:id="rId16"/>
    </p:embeddedFont>
    <p:embeddedFont>
      <p:font typeface="Museo Sans Cyrl 500" panose="02000000000000000000" charset="-52"/>
      <p:regular r:id="rId17"/>
      <p:italic r:id="rId18"/>
    </p:embeddedFont>
    <p:embeddedFont>
      <p:font typeface="Museo Sans Cyrl 700" panose="02000000000000000000" charset="-52"/>
      <p:regular r:id="rId19"/>
      <p:bold r:id="rId20"/>
      <p:italic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40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D3B"/>
    <a:srgbClr val="F4F4F7"/>
    <a:srgbClr val="DB342A"/>
    <a:srgbClr val="9E9F9E"/>
    <a:srgbClr val="D4D4D4"/>
    <a:srgbClr val="CE3428"/>
    <a:srgbClr val="B4B6B8"/>
    <a:srgbClr val="6600CC"/>
    <a:srgbClr val="7430E8"/>
    <a:srgbClr val="640A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89"/>
    <p:restoredTop sz="94704"/>
  </p:normalViewPr>
  <p:slideViewPr>
    <p:cSldViewPr snapToGrid="0" snapToObjects="1">
      <p:cViewPr varScale="1">
        <p:scale>
          <a:sx n="90" d="100"/>
          <a:sy n="90" d="100"/>
        </p:scale>
        <p:origin x="696" y="6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1FA1C-5E15-3C4C-A932-7C934C80D78B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3EC26-0790-BD4A-A04B-A7E2FC830D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709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3EC26-0790-BD4A-A04B-A7E2FC830DD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039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2774" y="1196976"/>
            <a:ext cx="8426454" cy="3365500"/>
          </a:xfrm>
        </p:spPr>
        <p:txBody>
          <a:bodyPr anchor="b">
            <a:normAutofit/>
          </a:bodyPr>
          <a:lstStyle>
            <a:lvl1pPr>
              <a:defRPr sz="4800" b="0" i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882774" y="4760259"/>
            <a:ext cx="8426454" cy="162149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82774" y="1981201"/>
            <a:ext cx="8426453" cy="41957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630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2774" y="1196976"/>
            <a:ext cx="8426454" cy="2232024"/>
          </a:xfrm>
        </p:spPr>
        <p:txBody>
          <a:bodyPr anchor="b">
            <a:normAutofit/>
          </a:bodyPr>
          <a:lstStyle>
            <a:lvl1pPr>
              <a:defRPr sz="3600" b="0" i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882774" y="3496235"/>
            <a:ext cx="8426454" cy="28800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760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882774" y="1981199"/>
            <a:ext cx="4213226" cy="4195763"/>
          </a:xfrm>
        </p:spPr>
        <p:txBody>
          <a:bodyPr>
            <a:normAutofit/>
          </a:bodyPr>
          <a:lstStyle>
            <a:lvl1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1pPr>
            <a:lvl2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2pPr>
            <a:lvl3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3pPr>
            <a:lvl4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4pPr>
            <a:lvl5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sz="half" idx="13"/>
          </p:nvPr>
        </p:nvSpPr>
        <p:spPr>
          <a:xfrm>
            <a:off x="6096000" y="1981199"/>
            <a:ext cx="4213226" cy="4195763"/>
          </a:xfrm>
        </p:spPr>
        <p:txBody>
          <a:bodyPr>
            <a:normAutofit/>
          </a:bodyPr>
          <a:lstStyle>
            <a:lvl1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1pPr>
            <a:lvl2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2pPr>
            <a:lvl3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3pPr>
            <a:lvl4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4pPr>
            <a:lvl5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2036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882774" y="2093119"/>
            <a:ext cx="42132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882774" y="2989263"/>
            <a:ext cx="4213226" cy="32004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3"/>
          </p:nvPr>
        </p:nvSpPr>
        <p:spPr>
          <a:xfrm>
            <a:off x="6095999" y="2093119"/>
            <a:ext cx="42132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half" idx="14"/>
          </p:nvPr>
        </p:nvSpPr>
        <p:spPr>
          <a:xfrm>
            <a:off x="6095999" y="2989263"/>
            <a:ext cx="4213226" cy="32004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Заголовок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88309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объект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882774" y="1995947"/>
            <a:ext cx="3060000" cy="4181015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195444" y="1995947"/>
            <a:ext cx="3060000" cy="418101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Объект 3"/>
          <p:cNvSpPr>
            <a:spLocks noGrp="1"/>
          </p:cNvSpPr>
          <p:nvPr>
            <p:ph sz="half" idx="13"/>
          </p:nvPr>
        </p:nvSpPr>
        <p:spPr>
          <a:xfrm>
            <a:off x="8508113" y="1995946"/>
            <a:ext cx="3060000" cy="418101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666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771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5999" y="1196975"/>
            <a:ext cx="5472113" cy="51847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885576" y="1196975"/>
            <a:ext cx="42104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3"/>
          <p:cNvSpPr>
            <a:spLocks noGrp="1"/>
          </p:cNvSpPr>
          <p:nvPr>
            <p:ph type="body" sz="half" idx="2"/>
          </p:nvPr>
        </p:nvSpPr>
        <p:spPr>
          <a:xfrm>
            <a:off x="1882773" y="2868706"/>
            <a:ext cx="4213225" cy="35130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51712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5576" y="1196975"/>
            <a:ext cx="42104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095999" y="1196975"/>
            <a:ext cx="5472113" cy="5184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82773" y="2868706"/>
            <a:ext cx="4213225" cy="35130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522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ключительный слайд">
    <p:bg>
      <p:bgPr>
        <a:solidFill>
          <a:srgbClr val="DB3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B3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2773" y="2223246"/>
            <a:ext cx="9685339" cy="2339229"/>
          </a:xfrm>
        </p:spPr>
        <p:txBody>
          <a:bodyPr anchor="b">
            <a:normAutofit/>
          </a:bodyPr>
          <a:lstStyle>
            <a:lvl1pPr>
              <a:defRPr sz="3200" b="0" i="0">
                <a:solidFill>
                  <a:srgbClr val="F4F4F7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882773" y="4625787"/>
            <a:ext cx="9685339" cy="1755963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buNone/>
              <a:defRPr sz="1600">
                <a:solidFill>
                  <a:srgbClr val="D4D4D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Прямоугольник 3"/>
          <p:cNvSpPr/>
          <p:nvPr userDrawn="1"/>
        </p:nvSpPr>
        <p:spPr>
          <a:xfrm>
            <a:off x="0" y="0"/>
            <a:ext cx="12192000" cy="16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772" y="344205"/>
            <a:ext cx="1260000" cy="93159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2775" y="1196975"/>
            <a:ext cx="8426452" cy="720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882775" y="2035277"/>
            <a:ext cx="8426452" cy="4141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882774" y="6176962"/>
            <a:ext cx="8426453" cy="48381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rgbClr val="9E9F9E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256168" y="6176962"/>
            <a:ext cx="576000" cy="4838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600" b="1" i="0">
                <a:solidFill>
                  <a:srgbClr val="9E9F9E"/>
                </a:solidFill>
                <a:latin typeface="Museo Sans Cyrl 700" charset="0"/>
                <a:ea typeface="Museo Sans Cyrl 700" charset="0"/>
                <a:cs typeface="Museo Sans Cyrl 700" charset="0"/>
              </a:defRPr>
            </a:lvl1pPr>
          </a:lstStyle>
          <a:p>
            <a:fld id="{B8D437A8-D5C6-7B44-BC16-48B1FA963B2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0" y="0"/>
            <a:ext cx="982663" cy="6858000"/>
          </a:xfrm>
          <a:prstGeom prst="rect">
            <a:avLst/>
          </a:prstGeom>
          <a:solidFill>
            <a:srgbClr val="DB3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D1DE0F0-22BD-CA49-B0E4-8B33FFD6CB6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398113" y="656975"/>
            <a:ext cx="1170000" cy="86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4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5" r:id="rId2"/>
    <p:sldLayoutId id="2147483726" r:id="rId3"/>
    <p:sldLayoutId id="2147483727" r:id="rId4"/>
    <p:sldLayoutId id="2147483728" r:id="rId5"/>
    <p:sldLayoutId id="2147483735" r:id="rId6"/>
    <p:sldLayoutId id="2147483729" r:id="rId7"/>
    <p:sldLayoutId id="2147483730" r:id="rId8"/>
    <p:sldLayoutId id="2147483731" r:id="rId9"/>
    <p:sldLayoutId id="2147483732" r:id="rId10"/>
    <p:sldLayoutId id="2147483737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C3D3B"/>
          </a:solidFill>
          <a:latin typeface="Museo Sans Cyrl 500" charset="0"/>
          <a:ea typeface="Museo Sans Cyrl 500" charset="0"/>
          <a:cs typeface="Museo Sans Cyrl 500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800" kern="1200">
          <a:solidFill>
            <a:srgbClr val="3C3D3B"/>
          </a:solidFill>
          <a:latin typeface="Museo Sans Cyrl 500" charset="0"/>
          <a:ea typeface="Museo Sans Cyrl 500" charset="0"/>
          <a:cs typeface="Museo Sans Cyrl 500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400" kern="1200">
          <a:solidFill>
            <a:srgbClr val="3C3D3B"/>
          </a:solidFill>
          <a:latin typeface="Museo Sans Cyrl 500" charset="0"/>
          <a:ea typeface="Museo Sans Cyrl 500" charset="0"/>
          <a:cs typeface="Museo Sans Cyrl 500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rgbClr val="3C3D3B"/>
          </a:solidFill>
          <a:latin typeface="Museo Sans Cyrl 500" charset="0"/>
          <a:ea typeface="Museo Sans Cyrl 500" charset="0"/>
          <a:cs typeface="Museo Sans Cyrl 500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rgbClr val="3C3D3B"/>
          </a:solidFill>
          <a:latin typeface="Museo Sans Cyrl 500" charset="0"/>
          <a:ea typeface="Museo Sans Cyrl 500" charset="0"/>
          <a:cs typeface="Museo Sans Cyrl 500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rgbClr val="3C3D3B"/>
          </a:solidFill>
          <a:latin typeface="Museo Sans Cyrl 500" charset="0"/>
          <a:ea typeface="Museo Sans Cyrl 500" charset="0"/>
          <a:cs typeface="Museo Sans Cyrl 5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186" userDrawn="1">
          <p15:clr>
            <a:srgbClr val="F26B43"/>
          </p15:clr>
        </p15:guide>
        <p15:guide id="3" pos="619" userDrawn="1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orient="horz" pos="754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12333" y="1610132"/>
            <a:ext cx="10160000" cy="2446867"/>
          </a:xfrm>
        </p:spPr>
        <p:txBody>
          <a:bodyPr>
            <a:noAutofit/>
          </a:bodyPr>
          <a:lstStyle/>
          <a:p>
            <a:r>
              <a:rPr lang="ru-RU" sz="4400" b="1" dirty="0">
                <a:latin typeface="+mj-lt"/>
              </a:rPr>
              <a:t>РАЗРАБОТКА БАЗЫ ДАННЫХ СИСТЕМЫ БРОНИРОВАНИЯ АВИАБИЛЕТОВ С ФУНКЦИЕЙ ВЫБОРА МЕСТ НА КАРТЕ САМОЛЁТА</a:t>
            </a:r>
            <a:endParaRPr lang="en-US" sz="4400" b="1" dirty="0">
              <a:latin typeface="+mj-lt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21613" y="115552"/>
            <a:ext cx="9568249" cy="165576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Департамент образования и науки города Москвы</a:t>
            </a:r>
          </a:p>
          <a:p>
            <a:pPr algn="ctr"/>
            <a:r>
              <a:rPr lang="ru-RU" dirty="0">
                <a:latin typeface="+mn-lt"/>
              </a:rPr>
              <a:t>ГАОУ ВО Московский городской педагогический университет</a:t>
            </a:r>
          </a:p>
          <a:p>
            <a:pPr algn="ctr"/>
            <a:r>
              <a:rPr lang="ru-RU" dirty="0">
                <a:latin typeface="+mn-lt"/>
              </a:rPr>
              <a:t>Институт цифрового образования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2333" y="4056999"/>
            <a:ext cx="6341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/>
              <a:t>Направление подготовки: </a:t>
            </a:r>
            <a:r>
              <a:rPr lang="ru-RU" sz="2000" dirty="0"/>
              <a:t>38.03.05 Бизнес-информатика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2333" y="4756242"/>
            <a:ext cx="52841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Руководитель:</a:t>
            </a:r>
          </a:p>
          <a:p>
            <a:r>
              <a:rPr lang="ru-RU" sz="2000" dirty="0"/>
              <a:t>Доктор экономических наук, профессор Фролов Юрий Викторович</a:t>
            </a:r>
            <a:endParaRPr lang="ru-RU" sz="2000" dirty="0">
              <a:latin typeface="Bahnschrift SemiBold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42676" y="4756242"/>
            <a:ext cx="34276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Выполнил:</a:t>
            </a:r>
          </a:p>
          <a:p>
            <a:r>
              <a:rPr lang="ru-RU" sz="2000" dirty="0"/>
              <a:t>Студент группы ЦИБ-241</a:t>
            </a:r>
          </a:p>
          <a:p>
            <a:r>
              <a:rPr lang="ru-RU" sz="2000" dirty="0"/>
              <a:t>Чумаков Олег Александрович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42FDC-2E0E-ABC5-FF6F-214203355AFB}"/>
              </a:ext>
            </a:extLst>
          </p:cNvPr>
          <p:cNvSpPr txBox="1"/>
          <p:nvPr/>
        </p:nvSpPr>
        <p:spPr>
          <a:xfrm>
            <a:off x="7342676" y="6071038"/>
            <a:ext cx="4025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ea typeface="Microsoft JhengHei UI" panose="020B0604030504040204" pitchFamily="34" charset="-120"/>
              </a:rPr>
              <a:t>Дата защиты: 13.12.2025</a:t>
            </a:r>
          </a:p>
        </p:txBody>
      </p:sp>
    </p:spTree>
    <p:extLst>
      <p:ext uri="{BB962C8B-B14F-4D97-AF65-F5344CB8AC3E}">
        <p14:creationId xmlns:p14="http://schemas.microsoft.com/office/powerpoint/2010/main" val="718086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4025" y="145077"/>
            <a:ext cx="9636940" cy="720315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j-lt"/>
              </a:rPr>
              <a:t>Цель, задачи, объект и предмет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28197" y="1143628"/>
            <a:ext cx="9169099" cy="457074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000" b="1" dirty="0">
                <a:latin typeface="+mn-lt"/>
              </a:rPr>
              <a:t>Целью работы</a:t>
            </a:r>
            <a:r>
              <a:rPr lang="ru-RU" sz="2000" dirty="0">
                <a:latin typeface="+mn-lt"/>
              </a:rPr>
              <a:t> является проектирование и создание базы данных системы бронирования авиабилетов с функцией выбора места на карте самолёта.</a:t>
            </a:r>
          </a:p>
          <a:p>
            <a:pPr algn="just"/>
            <a:r>
              <a:rPr lang="ru-RU" sz="2000" dirty="0">
                <a:latin typeface="+mn-lt"/>
              </a:rPr>
              <a:t>Для достижения поставленной цели в работе последовательно решаются следующие </a:t>
            </a:r>
            <a:r>
              <a:rPr lang="ru-RU" sz="2000" b="1" dirty="0">
                <a:latin typeface="+mn-lt"/>
              </a:rPr>
              <a:t>задачи</a:t>
            </a:r>
            <a:r>
              <a:rPr lang="ru-RU" sz="2000" dirty="0">
                <a:latin typeface="+mn-lt"/>
              </a:rPr>
              <a:t>:</a:t>
            </a:r>
          </a:p>
          <a:p>
            <a:pPr marL="342900" indent="-342900">
              <a:buFont typeface="Symbol" panose="05050102010706020507" pitchFamily="18" charset="2"/>
              <a:buChar char=""/>
            </a:pPr>
            <a:r>
              <a:rPr lang="ru-RU" sz="2000" dirty="0">
                <a:latin typeface="+mn-lt"/>
              </a:rPr>
              <a:t>Проведение анализа предметной области и описание бизнес-процессов, связанных с бронированием и ценообразованием.</a:t>
            </a:r>
          </a:p>
          <a:p>
            <a:pPr marL="342900" indent="-342900">
              <a:buFont typeface="Symbol" panose="05050102010706020507" pitchFamily="18" charset="2"/>
              <a:buChar char=""/>
            </a:pPr>
            <a:r>
              <a:rPr lang="ru-RU" sz="2000" dirty="0">
                <a:latin typeface="+mn-lt"/>
              </a:rPr>
              <a:t>Разработка концептуальной и логической и реляционной модели базы данных </a:t>
            </a:r>
          </a:p>
          <a:p>
            <a:pPr marL="342900" indent="-342900">
              <a:buFont typeface="Symbol" panose="05050102010706020507" pitchFamily="18" charset="2"/>
              <a:buChar char=""/>
            </a:pPr>
            <a:r>
              <a:rPr lang="ru-RU" sz="2000" dirty="0">
                <a:latin typeface="+mn-lt"/>
              </a:rPr>
              <a:t>Написание комплекса SQL-запросов для формирования отчётности и анализа данных.</a:t>
            </a:r>
          </a:p>
          <a:p>
            <a:pPr marL="342900" indent="-342900">
              <a:buFont typeface="Symbol" panose="05050102010706020507" pitchFamily="18" charset="2"/>
              <a:buChar char=""/>
            </a:pPr>
            <a:r>
              <a:rPr lang="ru-RU" sz="2000" dirty="0">
                <a:latin typeface="+mn-lt"/>
              </a:rPr>
              <a:t>Оптимизация производительности базы данных.</a:t>
            </a:r>
          </a:p>
          <a:p>
            <a:pPr marL="342900" indent="-342900">
              <a:buFont typeface="Symbol" panose="05050102010706020507" pitchFamily="18" charset="2"/>
              <a:buChar char=""/>
            </a:pPr>
            <a:r>
              <a:rPr lang="ru-RU" sz="2000" dirty="0">
                <a:latin typeface="+mn-lt"/>
              </a:rPr>
              <a:t>Обеспечение целостности данных и поддержки доступа в виде транзакций.</a:t>
            </a:r>
          </a:p>
          <a:p>
            <a:pPr marL="342900" indent="-342900">
              <a:buFont typeface="Symbol" panose="05050102010706020507" pitchFamily="18" charset="2"/>
              <a:buChar char=""/>
            </a:pPr>
            <a:r>
              <a:rPr lang="ru-RU" sz="2000" dirty="0">
                <a:latin typeface="+mn-lt"/>
              </a:rPr>
              <a:t>Создание карты самолёта и осуществление бронирование места.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04DD615-0FFC-FC9B-BC0B-6676C1984903}"/>
              </a:ext>
            </a:extLst>
          </p:cNvPr>
          <p:cNvSpPr txBox="1">
            <a:spLocks/>
          </p:cNvSpPr>
          <p:nvPr/>
        </p:nvSpPr>
        <p:spPr>
          <a:xfrm>
            <a:off x="1028196" y="5858361"/>
            <a:ext cx="11163804" cy="1709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kern="120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Объектом работы 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является </a:t>
            </a:r>
            <a:r>
              <a:rPr lang="ru-RU" sz="2000" dirty="0">
                <a:latin typeface="+mn-lt"/>
              </a:rPr>
              <a:t>процесс бронирования авиабилета.</a:t>
            </a:r>
          </a:p>
        </p:txBody>
      </p:sp>
    </p:spTree>
    <p:extLst>
      <p:ext uri="{BB962C8B-B14F-4D97-AF65-F5344CB8AC3E}">
        <p14:creationId xmlns:p14="http://schemas.microsoft.com/office/powerpoint/2010/main" val="2091496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192875-0843-C420-6141-731E0C64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3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E2976A2-489F-6A81-D820-5FEF51BA8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7615" y="78973"/>
            <a:ext cx="8426452" cy="720315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j-lt"/>
              </a:rPr>
              <a:t>Анализ предметной области</a:t>
            </a:r>
          </a:p>
        </p:txBody>
      </p:sp>
      <p:pic>
        <p:nvPicPr>
          <p:cNvPr id="7" name="Рисунок 6" descr="Изображение выглядит как текст, диаграмма, снимок экрана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C7A3B4-2DD5-569C-C992-7048617DA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194" y="1284516"/>
            <a:ext cx="4931425" cy="5134353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диаграмма, зарисовка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BA8F5B-487E-7DA0-E6FF-17D0E0E5B3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194" y="740021"/>
            <a:ext cx="4931425" cy="57385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564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CAB95-37A7-4DFF-BB22-5AFFAC18C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0630B-C3CC-E185-2B10-1357AC156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905" y="170139"/>
            <a:ext cx="5208906" cy="720315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+mj-lt"/>
              </a:rPr>
              <a:t>Проектирование 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2304CB-FF74-8ADD-C979-F82ABC612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301" y="818866"/>
            <a:ext cx="9286024" cy="117926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+mn-lt"/>
              </a:rPr>
              <a:t>На основе проанализированный предметной области была смоделирована концептуальная модель базы данных</a:t>
            </a:r>
            <a:r>
              <a:rPr lang="en-US" sz="2400" dirty="0">
                <a:latin typeface="+mn-lt"/>
              </a:rPr>
              <a:t>.</a:t>
            </a:r>
            <a:endParaRPr lang="ru-RU" sz="2400" dirty="0">
              <a:latin typeface="+mn-lt"/>
            </a:endParaRPr>
          </a:p>
        </p:txBody>
      </p:sp>
      <p:pic>
        <p:nvPicPr>
          <p:cNvPr id="4" name="Рисунок 3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2DB67D-3C04-1E13-8074-82465BB1EF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873" y="2162106"/>
            <a:ext cx="10225022" cy="433948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3D5755-D20F-87F9-5CF5-D8A59ADF2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799" y="2068971"/>
            <a:ext cx="10640448" cy="452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47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8FA6196-A9CA-9B08-4795-B327659B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5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5AB1232-08C3-F013-F347-319CC326168B}"/>
              </a:ext>
            </a:extLst>
          </p:cNvPr>
          <p:cNvSpPr txBox="1">
            <a:spLocks/>
          </p:cNvSpPr>
          <p:nvPr/>
        </p:nvSpPr>
        <p:spPr>
          <a:xfrm>
            <a:off x="1098624" y="291508"/>
            <a:ext cx="8671909" cy="868425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</a:lstStyle>
          <a:p>
            <a:pPr algn="ctr"/>
            <a:r>
              <a:rPr lang="ru-RU" sz="4000" b="1">
                <a:latin typeface="+mj-lt"/>
              </a:rPr>
              <a:t>Практическая реализация и функциональность базы данных</a:t>
            </a:r>
            <a:endParaRPr lang="ru-RU" sz="3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F0D22C-3F3C-719C-524C-FBEB9FA73340}"/>
              </a:ext>
            </a:extLst>
          </p:cNvPr>
          <p:cNvSpPr txBox="1"/>
          <p:nvPr/>
        </p:nvSpPr>
        <p:spPr>
          <a:xfrm>
            <a:off x="1176866" y="1222345"/>
            <a:ext cx="401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Данные в таблицах:</a:t>
            </a:r>
            <a:endParaRPr lang="en-US" sz="2000" b="1" dirty="0"/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8AD276AB-8184-A301-FA50-9F290EA0A40B}"/>
              </a:ext>
            </a:extLst>
          </p:cNvPr>
          <p:cNvGrpSpPr/>
          <p:nvPr/>
        </p:nvGrpSpPr>
        <p:grpSpPr>
          <a:xfrm>
            <a:off x="3352799" y="4701369"/>
            <a:ext cx="6830378" cy="1475593"/>
            <a:chOff x="1098623" y="4895609"/>
            <a:chExt cx="6830378" cy="1475593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6BF70147-3E41-435F-FB71-C152AC198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8624" y="4895609"/>
              <a:ext cx="6811326" cy="466790"/>
            </a:xfrm>
            <a:prstGeom prst="rect">
              <a:avLst/>
            </a:prstGeom>
          </p:spPr>
        </p:pic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8ECDC0EE-1498-53F6-1619-B946317C7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7676" y="5362399"/>
              <a:ext cx="6792273" cy="790685"/>
            </a:xfrm>
            <a:prstGeom prst="rect">
              <a:avLst/>
            </a:prstGeom>
          </p:spPr>
        </p:pic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CF2121ED-7681-F4A9-E00F-571CA9AFE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4482"/>
            <a:stretch>
              <a:fillRect/>
            </a:stretch>
          </p:blipFill>
          <p:spPr>
            <a:xfrm>
              <a:off x="1098623" y="6176962"/>
              <a:ext cx="6830378" cy="194240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4EC321A-4783-AD6D-B1DE-12E2FD2C4976}"/>
              </a:ext>
            </a:extLst>
          </p:cNvPr>
          <p:cNvSpPr txBox="1"/>
          <p:nvPr/>
        </p:nvSpPr>
        <p:spPr>
          <a:xfrm>
            <a:off x="982132" y="2781555"/>
            <a:ext cx="2201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Таблица</a:t>
            </a:r>
            <a:r>
              <a:rPr lang="ru-RU" dirty="0"/>
              <a:t> </a:t>
            </a:r>
            <a:r>
              <a:rPr lang="en-US" sz="2000" dirty="0"/>
              <a:t>booking</a:t>
            </a:r>
            <a:r>
              <a:rPr lang="en-US" dirty="0"/>
              <a:t>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B6611C-10AA-A51D-53D1-FBE3C3021082}"/>
              </a:ext>
            </a:extLst>
          </p:cNvPr>
          <p:cNvSpPr txBox="1"/>
          <p:nvPr/>
        </p:nvSpPr>
        <p:spPr>
          <a:xfrm>
            <a:off x="982132" y="5356199"/>
            <a:ext cx="2558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Таблица</a:t>
            </a:r>
            <a:r>
              <a:rPr lang="ru-RU" dirty="0"/>
              <a:t> </a:t>
            </a:r>
            <a:r>
              <a:rPr lang="en-US" sz="2000" dirty="0"/>
              <a:t>payment</a:t>
            </a:r>
            <a:r>
              <a:rPr lang="en-US" dirty="0"/>
              <a:t>: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538FE21-C968-1741-5E08-02BA402C735C}"/>
              </a:ext>
            </a:extLst>
          </p:cNvPr>
          <p:cNvGrpSpPr/>
          <p:nvPr/>
        </p:nvGrpSpPr>
        <p:grpSpPr>
          <a:xfrm>
            <a:off x="3797550" y="1386346"/>
            <a:ext cx="7111822" cy="2983362"/>
            <a:chOff x="4098046" y="1683902"/>
            <a:chExt cx="6654619" cy="2685806"/>
          </a:xfrm>
        </p:grpSpPr>
        <p:pic>
          <p:nvPicPr>
            <p:cNvPr id="8" name="Рисунок 7" descr="Изображение выглядит как текст, снимок экрана, число, Шрифт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489854E1-0231-D8A9-96F4-AAD4E878C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1235" r="70980"/>
            <a:stretch>
              <a:fillRect/>
            </a:stretch>
          </p:blipFill>
          <p:spPr>
            <a:xfrm>
              <a:off x="4921355" y="1683902"/>
              <a:ext cx="675112" cy="2685806"/>
            </a:xfrm>
            <a:prstGeom prst="rect">
              <a:avLst/>
            </a:prstGeom>
          </p:spPr>
        </p:pic>
        <p:pic>
          <p:nvPicPr>
            <p:cNvPr id="2" name="Рисунок 1" descr="Изображение выглядит как текст, снимок экрана, число, Шрифт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F00A5FB6-512A-598E-25DF-C3ACC5173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90506"/>
            <a:stretch>
              <a:fillRect/>
            </a:stretch>
          </p:blipFill>
          <p:spPr>
            <a:xfrm>
              <a:off x="4098046" y="1683902"/>
              <a:ext cx="823309" cy="2685806"/>
            </a:xfrm>
            <a:prstGeom prst="rect">
              <a:avLst/>
            </a:prstGeom>
          </p:spPr>
        </p:pic>
        <p:pic>
          <p:nvPicPr>
            <p:cNvPr id="6" name="Рисунок 5" descr="Изображение выглядит как текст, снимок экрана, число, Шрифт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D6915F98-B3CF-80F7-594F-522234410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0541"/>
            <a:stretch>
              <a:fillRect/>
            </a:stretch>
          </p:blipFill>
          <p:spPr>
            <a:xfrm>
              <a:off x="5596467" y="1683902"/>
              <a:ext cx="5156198" cy="26858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9556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63A5-8D69-60CC-866B-F1DD13318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32D4F3-AD90-9C64-0DFC-509E48228773}"/>
              </a:ext>
            </a:extLst>
          </p:cNvPr>
          <p:cNvSpPr txBox="1"/>
          <p:nvPr/>
        </p:nvSpPr>
        <p:spPr>
          <a:xfrm>
            <a:off x="3975100" y="5842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9DDB4-2136-4A3C-0D51-0E40CF5B3958}"/>
              </a:ext>
            </a:extLst>
          </p:cNvPr>
          <p:cNvSpPr txBox="1"/>
          <p:nvPr/>
        </p:nvSpPr>
        <p:spPr>
          <a:xfrm>
            <a:off x="7871143" y="2229839"/>
            <a:ext cx="39821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None/>
            </a:pPr>
            <a:r>
              <a:rPr lang="ru-RU" sz="2000" b="1" i="0" dirty="0">
                <a:effectLst/>
              </a:rPr>
              <a:t>Отчёт по загрузке рейсов: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BFBA458-9CC0-2F39-65DB-9D1669BA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624" y="291508"/>
            <a:ext cx="8671909" cy="86842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>
                <a:latin typeface="+mj-lt"/>
              </a:rPr>
              <a:t>Практическая реализация и функциональность базы данных</a:t>
            </a:r>
            <a:endParaRPr lang="ru-RU" sz="3600" dirty="0">
              <a:latin typeface="+mj-lt"/>
            </a:endParaRPr>
          </a:p>
        </p:txBody>
      </p:sp>
      <p:pic>
        <p:nvPicPr>
          <p:cNvPr id="8" name="Рисунок 7" descr="Изображение выглядит как текст, снимок экрана, меню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72743D-2D23-0650-6C7B-84D6AC27C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624" y="1370061"/>
            <a:ext cx="6576545" cy="2507671"/>
          </a:xfrm>
          <a:prstGeom prst="rect">
            <a:avLst/>
          </a:prstGeom>
        </p:spPr>
      </p:pic>
      <p:pic>
        <p:nvPicPr>
          <p:cNvPr id="2" name="Рисунок 1" descr="Изображение выглядит как текст, число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3C52785-966C-AECD-B913-2AD85177DE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33"/>
          <a:stretch>
            <a:fillRect/>
          </a:stretch>
        </p:blipFill>
        <p:spPr bwMode="auto">
          <a:xfrm>
            <a:off x="4159831" y="4087860"/>
            <a:ext cx="7762621" cy="25477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C68F92-AFDB-F318-7F5C-E5540DF0D278}"/>
              </a:ext>
            </a:extLst>
          </p:cNvPr>
          <p:cNvSpPr txBox="1"/>
          <p:nvPr/>
        </p:nvSpPr>
        <p:spPr>
          <a:xfrm>
            <a:off x="1458197" y="5163472"/>
            <a:ext cx="31476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Анализ продаж по тарифам: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12751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9FFBB-BE32-7F9A-ED7A-F956ADB75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C03CF9F-EABF-22F0-E60D-B4E6B4224526}"/>
              </a:ext>
            </a:extLst>
          </p:cNvPr>
          <p:cNvSpPr txBox="1"/>
          <p:nvPr/>
        </p:nvSpPr>
        <p:spPr>
          <a:xfrm>
            <a:off x="3975100" y="5842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E8B5D-AF4C-F0D3-3972-B04EDD5ABFAD}"/>
              </a:ext>
            </a:extLst>
          </p:cNvPr>
          <p:cNvSpPr txBox="1"/>
          <p:nvPr/>
        </p:nvSpPr>
        <p:spPr>
          <a:xfrm>
            <a:off x="1433162" y="1463469"/>
            <a:ext cx="912294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Работа процесса бронирования билета:</a:t>
            </a:r>
          </a:p>
          <a:p>
            <a:pPr algn="just"/>
            <a:endParaRPr lang="ru-RU" sz="2400" dirty="0"/>
          </a:p>
          <a:p>
            <a:pPr algn="just"/>
            <a:r>
              <a:rPr lang="ru-RU" sz="2400" dirty="0"/>
              <a:t>1.</a:t>
            </a:r>
          </a:p>
          <a:p>
            <a:pPr algn="just"/>
            <a:endParaRPr lang="ru-RU" sz="2400" dirty="0"/>
          </a:p>
          <a:p>
            <a:pPr algn="just"/>
            <a:endParaRPr lang="ru-RU" sz="2400" dirty="0"/>
          </a:p>
          <a:p>
            <a:pPr algn="just"/>
            <a:r>
              <a:rPr lang="ru-RU" sz="2400" dirty="0"/>
              <a:t>2.</a:t>
            </a:r>
          </a:p>
          <a:p>
            <a:pPr algn="just"/>
            <a:endParaRPr lang="ru-RU" sz="2400" dirty="0"/>
          </a:p>
          <a:p>
            <a:pPr algn="just"/>
            <a:endParaRPr lang="ru-RU" sz="2400" dirty="0"/>
          </a:p>
          <a:p>
            <a:pPr algn="just"/>
            <a:r>
              <a:rPr lang="ru-RU" sz="2400" dirty="0"/>
              <a:t>3.</a:t>
            </a:r>
          </a:p>
          <a:p>
            <a:pPr algn="just"/>
            <a:endParaRPr lang="ru-RU" sz="2400" dirty="0"/>
          </a:p>
          <a:p>
            <a:pPr algn="just"/>
            <a:endParaRPr lang="ru-RU" sz="2400" dirty="0"/>
          </a:p>
          <a:p>
            <a:pPr algn="just"/>
            <a:r>
              <a:rPr lang="ru-RU" sz="2400" dirty="0"/>
              <a:t>4.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AFA130F9-ED8A-D92C-BB71-987D1115C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866" y="184937"/>
            <a:ext cx="9289667" cy="86842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>
                <a:latin typeface="+mj-lt"/>
              </a:rPr>
              <a:t>Практическая реализация и функциональность базы данных</a:t>
            </a:r>
            <a:endParaRPr lang="ru-RU" sz="3600" dirty="0">
              <a:latin typeface="+mj-lt"/>
            </a:endParaRPr>
          </a:p>
        </p:txBody>
      </p:sp>
      <p:pic>
        <p:nvPicPr>
          <p:cNvPr id="2" name="Рисунок 1" descr="Изображение выглядит как текст, Шрифт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E3B151-E4E1-7E63-A7C9-2E83D4C2FC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3224"/>
          <a:stretch>
            <a:fillRect/>
          </a:stretch>
        </p:blipFill>
        <p:spPr bwMode="auto">
          <a:xfrm>
            <a:off x="1961573" y="2048827"/>
            <a:ext cx="6537217" cy="79050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A9DEB0-B922-296F-9C75-2817C4166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573" y="3195314"/>
            <a:ext cx="4518120" cy="67570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1C8FFE-9AFA-B359-13D7-8AD276EB5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573" y="4281122"/>
            <a:ext cx="9658540" cy="79050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982B8C4-9BDB-47B3-4A7B-472C6FBB26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573" y="5393658"/>
            <a:ext cx="6893036" cy="70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55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2774" y="681037"/>
            <a:ext cx="8426452" cy="720315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j-lt"/>
              </a:rPr>
              <a:t>Интерактивная карта самолёта</a:t>
            </a:r>
          </a:p>
        </p:txBody>
      </p:sp>
      <p:pic>
        <p:nvPicPr>
          <p:cNvPr id="8" name="Рисунок 7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26FA527-C44C-0AC0-FFE2-02142EA92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1" y="3158066"/>
            <a:ext cx="5253197" cy="36237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512E94-C728-92DE-582A-513D39E2E451}"/>
              </a:ext>
            </a:extLst>
          </p:cNvPr>
          <p:cNvSpPr txBox="1"/>
          <p:nvPr/>
        </p:nvSpPr>
        <p:spPr>
          <a:xfrm>
            <a:off x="7061199" y="2078277"/>
            <a:ext cx="269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Выбранный рейс:</a:t>
            </a:r>
            <a:endParaRPr lang="en-US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C4391D-2265-FDD8-D768-05E161AF8F0B}"/>
              </a:ext>
            </a:extLst>
          </p:cNvPr>
          <p:cNvSpPr txBox="1"/>
          <p:nvPr/>
        </p:nvSpPr>
        <p:spPr>
          <a:xfrm>
            <a:off x="1481664" y="4969932"/>
            <a:ext cx="5113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Карта самолёта выбранного рейса:</a:t>
            </a:r>
            <a:endParaRPr lang="en-US" sz="2400" b="1" dirty="0"/>
          </a:p>
        </p:txBody>
      </p:sp>
      <p:pic>
        <p:nvPicPr>
          <p:cNvPr id="14" name="Рисунок 1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E6E7D1D-DB74-A7D2-FF13-BDBAB333C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336" y="1426403"/>
            <a:ext cx="5253197" cy="230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078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AD82E-3250-1B6B-3884-F006A9712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56C06F6-146B-6851-4359-CED212423863}"/>
              </a:ext>
            </a:extLst>
          </p:cNvPr>
          <p:cNvSpPr txBox="1">
            <a:spLocks/>
          </p:cNvSpPr>
          <p:nvPr/>
        </p:nvSpPr>
        <p:spPr>
          <a:xfrm>
            <a:off x="1971004" y="214686"/>
            <a:ext cx="8426452" cy="720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</a:lstStyle>
          <a:p>
            <a:pPr algn="ctr"/>
            <a:r>
              <a:rPr lang="ru-RU" b="1" dirty="0">
                <a:latin typeface="+mj-lt"/>
              </a:rPr>
              <a:t>Интерактивная карта самолёта</a:t>
            </a:r>
          </a:p>
        </p:txBody>
      </p:sp>
      <p:pic>
        <p:nvPicPr>
          <p:cNvPr id="8" name="Рисунок 7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85DE3F-351A-E855-2F7E-67F9F7192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85" y="935001"/>
            <a:ext cx="4502395" cy="3653599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дисплей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483635C-2FD1-C745-885B-FC1A20991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913" y="4296938"/>
            <a:ext cx="5624097" cy="22393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FA013E-1F00-CB74-18B3-EED6AFBD5F60}"/>
              </a:ext>
            </a:extLst>
          </p:cNvPr>
          <p:cNvSpPr txBox="1"/>
          <p:nvPr/>
        </p:nvSpPr>
        <p:spPr>
          <a:xfrm>
            <a:off x="6096000" y="2087371"/>
            <a:ext cx="562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Описание выбранного места на рейсе: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EA5217-4735-6E3C-BB59-599762A7F87F}"/>
              </a:ext>
            </a:extLst>
          </p:cNvPr>
          <p:cNvSpPr txBox="1"/>
          <p:nvPr/>
        </p:nvSpPr>
        <p:spPr>
          <a:xfrm>
            <a:off x="1087297" y="5197845"/>
            <a:ext cx="5096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Бронирование выбранного места на рейсе: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91715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6217E68-0D5C-1374-7539-E2EDFF847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10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4192330-49D0-E8BE-EEF8-D44956F72872}"/>
              </a:ext>
            </a:extLst>
          </p:cNvPr>
          <p:cNvSpPr txBox="1">
            <a:spLocks/>
          </p:cNvSpPr>
          <p:nvPr/>
        </p:nvSpPr>
        <p:spPr>
          <a:xfrm>
            <a:off x="1971004" y="214686"/>
            <a:ext cx="8426452" cy="720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</a:lstStyle>
          <a:p>
            <a:pPr algn="ctr"/>
            <a:r>
              <a:rPr lang="ru-RU" b="1" dirty="0">
                <a:latin typeface="+mj-lt"/>
              </a:rPr>
              <a:t>Интерактивная карта самолёта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7D633-0E67-3076-16FB-2A187D713C88}"/>
              </a:ext>
            </a:extLst>
          </p:cNvPr>
          <p:cNvSpPr txBox="1"/>
          <p:nvPr/>
        </p:nvSpPr>
        <p:spPr>
          <a:xfrm>
            <a:off x="1261533" y="1058333"/>
            <a:ext cx="5139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Статистика и обозначения на сайте:</a:t>
            </a:r>
            <a:endParaRPr lang="en-US" sz="2400" b="1" dirty="0"/>
          </a:p>
        </p:txBody>
      </p:sp>
      <p:pic>
        <p:nvPicPr>
          <p:cNvPr id="7" name="Рисунок 6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D09E71C-E542-DF41-69B9-22C51B604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533" y="1655714"/>
            <a:ext cx="5186233" cy="4000020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A482FE6-83D7-CA4E-AB5B-4CD4E2D2D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483" y="1556692"/>
            <a:ext cx="5186233" cy="427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72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+mj-lt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007585348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УКЭСИ.pptx" id="{9D7C701E-F3D7-7B4E-A0A9-79094BABD70A}" vid="{9CAC9407-DA55-E741-87DC-DEF11B132EC0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5886</TotalTime>
  <Words>266</Words>
  <Application>Microsoft Office PowerPoint</Application>
  <PresentationFormat>Широкоэкранный</PresentationFormat>
  <Paragraphs>57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Bahnschrift SemiBold</vt:lpstr>
      <vt:lpstr>Microsoft JhengHei UI</vt:lpstr>
      <vt:lpstr>Arial</vt:lpstr>
      <vt:lpstr>Museo Sans Cyrl 500</vt:lpstr>
      <vt:lpstr>Symbol</vt:lpstr>
      <vt:lpstr>Calibri</vt:lpstr>
      <vt:lpstr>Museo Sans Cyrl 700</vt:lpstr>
      <vt:lpstr>Специальное оформление</vt:lpstr>
      <vt:lpstr>РАЗРАБОТКА БАЗЫ ДАННЫХ СИСТЕМЫ БРОНИРОВАНИЯ АВИАБИЛЕТОВ С ФУНКЦИЕЙ ВЫБОРА МЕСТ НА КАРТЕ САМОЛЁТА</vt:lpstr>
      <vt:lpstr>Цель, задачи, объект и предмет работы</vt:lpstr>
      <vt:lpstr>Анализ предметной области</vt:lpstr>
      <vt:lpstr>Проектирование БД</vt:lpstr>
      <vt:lpstr>Презентация PowerPoint</vt:lpstr>
      <vt:lpstr>Практическая реализация и функциональность базы данных</vt:lpstr>
      <vt:lpstr>Практическая реализация и функциональность базы данных</vt:lpstr>
      <vt:lpstr>Интерактивная карта самолёта</vt:lpstr>
      <vt:lpstr>Презентация PowerPoint</vt:lpstr>
      <vt:lpstr>Презентация PowerPoint</vt:lpstr>
      <vt:lpstr>СПАСИБО ЗА ВНИМАНИЕ</vt:lpstr>
    </vt:vector>
  </TitlesOfParts>
  <Manager/>
  <Company>Московский городской университет МГПУ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презентации</dc:title>
  <dc:subject/>
  <dc:creator>bossua</dc:creator>
  <cp:keywords/>
  <dc:description/>
  <cp:lastModifiedBy>Олег Чумаков</cp:lastModifiedBy>
  <cp:revision>263</cp:revision>
  <cp:lastPrinted>2022-06-11T11:13:19Z</cp:lastPrinted>
  <dcterms:created xsi:type="dcterms:W3CDTF">2016-03-02T10:13:19Z</dcterms:created>
  <dcterms:modified xsi:type="dcterms:W3CDTF">2025-12-13T18:37:08Z</dcterms:modified>
  <cp:category/>
</cp:coreProperties>
</file>